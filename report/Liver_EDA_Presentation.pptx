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Shlok Kumar Goenka, register number 23BDS0316, and this is my Exploratory Data Analysis course project under Balaji G N. I analysed a liver patient dataset with about thirty thousand rows. The title gives away the twist: those rows come from only five hundred and seventy real patients.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routine liver blood panel: age, gender, two bilirubin values, three liver enzymes, total protein, albumin and the albumin to globulin ratio, plus a label saying whether the person is a liver patient. I set three questions. Is the data clean? Which measurements separate patients from everyone else? And how well can a model predict the label for someone it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gave the biggest surprise. Eleven thousand three hundred rows were exact duplicates. The first rows matched the original 583-patient dataset from the UCI repository, so I downloaded it and compared. Every lab value in the added rows came from an original patient of the same class. That means the values themselves leak the label. It also erased a real effect: in the original data men have a higher disease rate than women, but in this file both sit at 71 per cent. For the missing values I used the EM algorithm, which cut the error by more than a third compared with mean imputation.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exploratory analysis told a consistent story. Bilirubin, the liver enzymes and alkaline phosphatase are higher in patients, and albumin is lower. Factor analysis recovered three groups that textbooks describe: protein synthesis, cell injury, and bilirubin handling. Clustering found four groups that look like stages of damage, but none of them matches the label, because patients drift away from normal in many directions.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models. I split the data 80 to 20 and compared seven classifiers under three protocols. On a random split, random forest and XGBoost reach 99.7 per cent accuracy. That looks perfect. But a simple lookup rule with no learning at all reaches an AUC of 0.94 on the same split, so the forest is reading the generator's fingerprints. When I trained and tested only on the 570 real patients, the forest fell apart. It cleared just 4 of 33 healthy people.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real patients, the RBF support vector machine and logistic regression tie, with a cross-validated AUC of about 0.73, and a McNemar test cannot separate them. I recommend logistic regression. It is just as accurate, it gives probabilities a doctor can threshold, and its coefficients can be read directly. Alkaline phosphatase, ALT, direct bilirubin, age and albumin carry most of the weight.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my main lesson is simple. Check where your data came from before you trust a score. Here, ninety-nine per cent accuracy measured the data generator, not the disease. The full report and code are in my GitHub repository.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731520"/>
            <a:ext cx="6400800" cy="274320"/>
          </a:xfrm>
          <a:prstGeom prst="rect">
            <a:avLst/>
          </a:prstGeom>
          <a:noFill/>
        </p:spPr>
        <p:txBody>
          <a:bodyPr wrap="square" lIns="0" rIns="0" tIns="0" bIns="0" anchor="t">
            <a:spAutoFit/>
          </a:bodyPr>
          <a:lstStyle/>
          <a:p>
            <a:pPr algn="l">
              <a:lnSpc>
                <a:spcPct val="110000"/>
              </a:lnSpc>
            </a:pPr>
            <a:r>
              <a:rPr sz="1100" b="0">
                <a:solidFill>
                  <a:srgbClr val="8C2F39"/>
                </a:solidFill>
                <a:latin typeface="Bahnschrift"/>
              </a:rPr>
              <a:t>BCSE331L  EXPLORATORY DATA ANALYSIS  /  COURSE PROJECT</a:t>
            </a:r>
          </a:p>
        </p:txBody>
      </p:sp>
      <p:sp>
        <p:nvSpPr>
          <p:cNvPr id="3" name="TextBox 2"/>
          <p:cNvSpPr txBox="1"/>
          <p:nvPr/>
        </p:nvSpPr>
        <p:spPr>
          <a:xfrm>
            <a:off x="685800" y="1737360"/>
            <a:ext cx="6949440" cy="2377440"/>
          </a:xfrm>
          <a:prstGeom prst="rect">
            <a:avLst/>
          </a:prstGeom>
          <a:noFill/>
        </p:spPr>
        <p:txBody>
          <a:bodyPr wrap="square" lIns="0" rIns="0" tIns="0" bIns="0" anchor="t">
            <a:spAutoFit/>
          </a:bodyPr>
          <a:lstStyle/>
          <a:p>
            <a:pPr algn="l">
              <a:lnSpc>
                <a:spcPct val="95000"/>
              </a:lnSpc>
            </a:pPr>
            <a:r>
              <a:rPr sz="4000" b="0">
                <a:solidFill>
                  <a:srgbClr val="1F2328"/>
                </a:solidFill>
                <a:latin typeface="Bahnschrift SemiBold"/>
              </a:rPr>
              <a:t>Thirty thousand rows,</a:t>
            </a:r>
          </a:p>
          <a:p>
            <a:pPr algn="l">
              <a:lnSpc>
                <a:spcPct val="95000"/>
              </a:lnSpc>
            </a:pPr>
            <a:r>
              <a:rPr sz="4000" b="0">
                <a:solidFill>
                  <a:srgbClr val="8C2F39"/>
                </a:solidFill>
                <a:latin typeface="Bahnschrift SemiBold"/>
              </a:rPr>
              <a:t>five hundred and seventy patients</a:t>
            </a:r>
          </a:p>
        </p:txBody>
      </p:sp>
      <p:sp>
        <p:nvSpPr>
          <p:cNvPr id="4" name="TextBox 3"/>
          <p:cNvSpPr txBox="1"/>
          <p:nvPr/>
        </p:nvSpPr>
        <p:spPr>
          <a:xfrm>
            <a:off x="685800" y="3977639"/>
            <a:ext cx="6217920" cy="822960"/>
          </a:xfrm>
          <a:prstGeom prst="rect">
            <a:avLst/>
          </a:prstGeom>
          <a:noFill/>
        </p:spPr>
        <p:txBody>
          <a:bodyPr wrap="square" lIns="0" rIns="0" tIns="0" bIns="0" anchor="t">
            <a:spAutoFit/>
          </a:bodyPr>
          <a:lstStyle/>
          <a:p>
            <a:pPr algn="l">
              <a:lnSpc>
                <a:spcPct val="115000"/>
              </a:lnSpc>
            </a:pPr>
            <a:r>
              <a:rPr sz="1700" b="0">
                <a:solidFill>
                  <a:srgbClr val="6B7280"/>
                </a:solidFill>
                <a:latin typeface="Bahnschrift"/>
              </a:rPr>
              <a:t>An exploratory analysis of liver function records, and why a 99.7 per cent model learned almost nothing about the liver.</a:t>
            </a:r>
          </a:p>
        </p:txBody>
      </p:sp>
      <p:sp>
        <p:nvSpPr>
          <p:cNvPr id="5" name="TextBox 4"/>
          <p:cNvSpPr txBox="1"/>
          <p:nvPr/>
        </p:nvSpPr>
        <p:spPr>
          <a:xfrm>
            <a:off x="685800" y="5532120"/>
            <a:ext cx="6400800" cy="822960"/>
          </a:xfrm>
          <a:prstGeom prst="rect">
            <a:avLst/>
          </a:prstGeom>
          <a:noFill/>
        </p:spPr>
        <p:txBody>
          <a:bodyPr wrap="square" lIns="0" rIns="0" tIns="0" bIns="0" anchor="t">
            <a:spAutoFit/>
          </a:bodyPr>
          <a:lstStyle/>
          <a:p>
            <a:pPr algn="l">
              <a:lnSpc>
                <a:spcPct val="120000"/>
              </a:lnSpc>
            </a:pPr>
            <a:r>
              <a:rPr sz="1500" b="0">
                <a:solidFill>
                  <a:srgbClr val="1F2328"/>
                </a:solidFill>
                <a:latin typeface="Bahnschrift SemiBold"/>
              </a:rPr>
              <a:t>Shlok Kumar Goenka</a:t>
            </a:r>
            <a:r>
              <a:rPr sz="1500" b="0">
                <a:solidFill>
                  <a:srgbClr val="6B7280"/>
                </a:solidFill>
                <a:latin typeface="Bahnschrift"/>
              </a:rPr>
              <a:t>   23BDS0316</a:t>
            </a:r>
          </a:p>
          <a:p>
            <a:pPr algn="l">
              <a:lnSpc>
                <a:spcPct val="120000"/>
              </a:lnSpc>
            </a:pPr>
            <a:r>
              <a:rPr sz="1300" b="0">
                <a:solidFill>
                  <a:srgbClr val="6B7280"/>
                </a:solidFill>
                <a:latin typeface="Bahnschrift"/>
              </a:rPr>
              <a:t>Faculty: Balaji G N</a:t>
            </a:r>
          </a:p>
        </p:txBody>
      </p:sp>
      <p:sp>
        <p:nvSpPr>
          <p:cNvPr id="6" name="Rectangle 5"/>
          <p:cNvSpPr/>
          <p:nvPr/>
        </p:nvSpPr>
        <p:spPr>
          <a:xfrm>
            <a:off x="8275320" y="1737360"/>
            <a:ext cx="12700" cy="4206240"/>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1737360"/>
            <a:ext cx="2926080" cy="731520"/>
          </a:xfrm>
          <a:prstGeom prst="rect">
            <a:avLst/>
          </a:prstGeom>
          <a:noFill/>
        </p:spPr>
        <p:txBody>
          <a:bodyPr wrap="square" lIns="0" rIns="0" tIns="0" bIns="0" anchor="t">
            <a:spAutoFit/>
          </a:bodyPr>
          <a:lstStyle/>
          <a:p>
            <a:pPr algn="l">
              <a:lnSpc>
                <a:spcPct val="100000"/>
              </a:lnSpc>
            </a:pPr>
            <a:r>
              <a:rPr sz="4000" b="0">
                <a:solidFill>
                  <a:srgbClr val="1F2328"/>
                </a:solidFill>
                <a:latin typeface="Bahnschrift Light"/>
              </a:rPr>
              <a:t>30,691</a:t>
            </a:r>
          </a:p>
        </p:txBody>
      </p:sp>
      <p:sp>
        <p:nvSpPr>
          <p:cNvPr id="8" name="TextBox 7"/>
          <p:cNvSpPr txBox="1"/>
          <p:nvPr/>
        </p:nvSpPr>
        <p:spPr>
          <a:xfrm>
            <a:off x="8641080" y="2450592"/>
            <a:ext cx="292608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rows in the course file</a:t>
            </a:r>
          </a:p>
        </p:txBody>
      </p:sp>
      <p:sp>
        <p:nvSpPr>
          <p:cNvPr id="9" name="TextBox 8"/>
          <p:cNvSpPr txBox="1"/>
          <p:nvPr/>
        </p:nvSpPr>
        <p:spPr>
          <a:xfrm>
            <a:off x="8641080" y="3200400"/>
            <a:ext cx="2926080" cy="731520"/>
          </a:xfrm>
          <a:prstGeom prst="rect">
            <a:avLst/>
          </a:prstGeom>
          <a:noFill/>
        </p:spPr>
        <p:txBody>
          <a:bodyPr wrap="square" lIns="0" rIns="0" tIns="0" bIns="0" anchor="t">
            <a:spAutoFit/>
          </a:bodyPr>
          <a:lstStyle/>
          <a:p>
            <a:pPr algn="l">
              <a:lnSpc>
                <a:spcPct val="100000"/>
              </a:lnSpc>
            </a:pPr>
            <a:r>
              <a:rPr sz="4000" b="0">
                <a:solidFill>
                  <a:srgbClr val="1F2328"/>
                </a:solidFill>
                <a:latin typeface="Bahnschrift Light"/>
              </a:rPr>
              <a:t>570</a:t>
            </a:r>
          </a:p>
        </p:txBody>
      </p:sp>
      <p:sp>
        <p:nvSpPr>
          <p:cNvPr id="10" name="TextBox 9"/>
          <p:cNvSpPr txBox="1"/>
          <p:nvPr/>
        </p:nvSpPr>
        <p:spPr>
          <a:xfrm>
            <a:off x="8641080" y="3913632"/>
            <a:ext cx="292608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real patients behind them</a:t>
            </a:r>
          </a:p>
        </p:txBody>
      </p:sp>
      <p:sp>
        <p:nvSpPr>
          <p:cNvPr id="11" name="TextBox 10"/>
          <p:cNvSpPr txBox="1"/>
          <p:nvPr/>
        </p:nvSpPr>
        <p:spPr>
          <a:xfrm>
            <a:off x="8641080" y="4663440"/>
            <a:ext cx="2926080" cy="731520"/>
          </a:xfrm>
          <a:prstGeom prst="rect">
            <a:avLst/>
          </a:prstGeom>
          <a:noFill/>
        </p:spPr>
        <p:txBody>
          <a:bodyPr wrap="square" lIns="0" rIns="0" tIns="0" bIns="0" anchor="t">
            <a:spAutoFit/>
          </a:bodyPr>
          <a:lstStyle/>
          <a:p>
            <a:pPr algn="l">
              <a:lnSpc>
                <a:spcPct val="100000"/>
              </a:lnSpc>
            </a:pPr>
            <a:r>
              <a:rPr sz="4000" b="0">
                <a:solidFill>
                  <a:srgbClr val="8C2F39"/>
                </a:solidFill>
                <a:latin typeface="Bahnschrift Light"/>
              </a:rPr>
              <a:t>0.73</a:t>
            </a:r>
          </a:p>
        </p:txBody>
      </p:sp>
      <p:sp>
        <p:nvSpPr>
          <p:cNvPr id="12" name="TextBox 11"/>
          <p:cNvSpPr txBox="1"/>
          <p:nvPr/>
        </p:nvSpPr>
        <p:spPr>
          <a:xfrm>
            <a:off x="8641080" y="5376672"/>
            <a:ext cx="292608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honest ROC-AUC on unseen patients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2 / 7</a:t>
            </a:r>
          </a:p>
        </p:txBody>
      </p:sp>
      <p:sp>
        <p:nvSpPr>
          <p:cNvPr id="4" name="TextBox 3"/>
          <p:cNvSpPr txBox="1"/>
          <p:nvPr/>
        </p:nvSpPr>
        <p:spPr>
          <a:xfrm>
            <a:off x="685800" y="594360"/>
            <a:ext cx="10789920" cy="100584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SemiBold"/>
              </a:rPr>
              <a:t>A routine liver panel, 30,691 times</a:t>
            </a:r>
          </a:p>
        </p:txBody>
      </p:sp>
      <p:sp>
        <p:nvSpPr>
          <p:cNvPr id="5" name="TextBox 4"/>
          <p:cNvSpPr txBox="1"/>
          <p:nvPr/>
        </p:nvSpPr>
        <p:spPr>
          <a:xfrm>
            <a:off x="685800" y="1828800"/>
            <a:ext cx="1554480" cy="45720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SemiBold"/>
              </a:rPr>
              <a:t>Bilirubin</a:t>
            </a:r>
          </a:p>
        </p:txBody>
      </p:sp>
      <p:sp>
        <p:nvSpPr>
          <p:cNvPr id="6" name="TextBox 5"/>
          <p:cNvSpPr txBox="1"/>
          <p:nvPr/>
        </p:nvSpPr>
        <p:spPr>
          <a:xfrm>
            <a:off x="2331720" y="1828800"/>
            <a:ext cx="3840480" cy="45720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total, direct</a:t>
            </a:r>
          </a:p>
        </p:txBody>
      </p:sp>
      <p:sp>
        <p:nvSpPr>
          <p:cNvPr id="7" name="TextBox 6"/>
          <p:cNvSpPr txBox="1"/>
          <p:nvPr/>
        </p:nvSpPr>
        <p:spPr>
          <a:xfrm>
            <a:off x="685800" y="2450592"/>
            <a:ext cx="1554480" cy="45720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SemiBold"/>
              </a:rPr>
              <a:t>Enzymes</a:t>
            </a:r>
          </a:p>
        </p:txBody>
      </p:sp>
      <p:sp>
        <p:nvSpPr>
          <p:cNvPr id="8" name="TextBox 7"/>
          <p:cNvSpPr txBox="1"/>
          <p:nvPr/>
        </p:nvSpPr>
        <p:spPr>
          <a:xfrm>
            <a:off x="2331720" y="2450592"/>
            <a:ext cx="3840480" cy="45720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ALP, ALT (SGPT), AST (SGOT)</a:t>
            </a:r>
          </a:p>
        </p:txBody>
      </p:sp>
      <p:sp>
        <p:nvSpPr>
          <p:cNvPr id="9" name="TextBox 8"/>
          <p:cNvSpPr txBox="1"/>
          <p:nvPr/>
        </p:nvSpPr>
        <p:spPr>
          <a:xfrm>
            <a:off x="685800" y="3072384"/>
            <a:ext cx="1554480" cy="45720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SemiBold"/>
              </a:rPr>
              <a:t>Proteins</a:t>
            </a:r>
          </a:p>
        </p:txBody>
      </p:sp>
      <p:sp>
        <p:nvSpPr>
          <p:cNvPr id="10" name="TextBox 9"/>
          <p:cNvSpPr txBox="1"/>
          <p:nvPr/>
        </p:nvSpPr>
        <p:spPr>
          <a:xfrm>
            <a:off x="2331720" y="3072384"/>
            <a:ext cx="3840480" cy="45720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total protein, albumin, A/G ratio</a:t>
            </a:r>
          </a:p>
        </p:txBody>
      </p:sp>
      <p:sp>
        <p:nvSpPr>
          <p:cNvPr id="11" name="TextBox 10"/>
          <p:cNvSpPr txBox="1"/>
          <p:nvPr/>
        </p:nvSpPr>
        <p:spPr>
          <a:xfrm>
            <a:off x="685800" y="3694176"/>
            <a:ext cx="1554480" cy="45720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SemiBold"/>
              </a:rPr>
              <a:t>Person</a:t>
            </a:r>
          </a:p>
        </p:txBody>
      </p:sp>
      <p:sp>
        <p:nvSpPr>
          <p:cNvPr id="12" name="TextBox 11"/>
          <p:cNvSpPr txBox="1"/>
          <p:nvPr/>
        </p:nvSpPr>
        <p:spPr>
          <a:xfrm>
            <a:off x="2331720" y="3694176"/>
            <a:ext cx="3840480" cy="45720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age, gender</a:t>
            </a:r>
          </a:p>
        </p:txBody>
      </p:sp>
      <p:sp>
        <p:nvSpPr>
          <p:cNvPr id="13" name="TextBox 12"/>
          <p:cNvSpPr txBox="1"/>
          <p:nvPr/>
        </p:nvSpPr>
        <p:spPr>
          <a:xfrm>
            <a:off x="685800" y="4315968"/>
            <a:ext cx="1554480" cy="45720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SemiBold"/>
              </a:rPr>
              <a:t>Label</a:t>
            </a:r>
          </a:p>
        </p:txBody>
      </p:sp>
      <p:sp>
        <p:nvSpPr>
          <p:cNvPr id="14" name="TextBox 13"/>
          <p:cNvSpPr txBox="1"/>
          <p:nvPr/>
        </p:nvSpPr>
        <p:spPr>
          <a:xfrm>
            <a:off x="2331720" y="4315968"/>
            <a:ext cx="3840480" cy="45720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liver patient or not (71% patients)</a:t>
            </a:r>
          </a:p>
        </p:txBody>
      </p:sp>
      <p:sp>
        <p:nvSpPr>
          <p:cNvPr id="15" name="Rectangle 14"/>
          <p:cNvSpPr/>
          <p:nvPr/>
        </p:nvSpPr>
        <p:spPr>
          <a:xfrm>
            <a:off x="685800" y="1600200"/>
            <a:ext cx="539496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828800"/>
            <a:ext cx="548640" cy="731520"/>
          </a:xfrm>
          <a:prstGeom prst="rect">
            <a:avLst/>
          </a:prstGeom>
          <a:noFill/>
        </p:spPr>
        <p:txBody>
          <a:bodyPr wrap="square" lIns="0" rIns="0" tIns="0" bIns="0" anchor="t">
            <a:spAutoFit/>
          </a:bodyPr>
          <a:lstStyle/>
          <a:p>
            <a:pPr algn="l">
              <a:lnSpc>
                <a:spcPct val="100000"/>
              </a:lnSpc>
            </a:pPr>
            <a:r>
              <a:rPr sz="4000" b="0">
                <a:solidFill>
                  <a:srgbClr val="8C2F39"/>
                </a:solidFill>
                <a:latin typeface="Bahnschrift Light"/>
              </a:rPr>
              <a:t>1</a:t>
            </a:r>
          </a:p>
        </p:txBody>
      </p:sp>
      <p:sp>
        <p:nvSpPr>
          <p:cNvPr id="17" name="TextBox 16"/>
          <p:cNvSpPr txBox="1"/>
          <p:nvPr/>
        </p:nvSpPr>
        <p:spPr>
          <a:xfrm>
            <a:off x="7406640" y="1938528"/>
            <a:ext cx="4114800" cy="822960"/>
          </a:xfrm>
          <a:prstGeom prst="rect">
            <a:avLst/>
          </a:prstGeom>
          <a:noFill/>
        </p:spPr>
        <p:txBody>
          <a:bodyPr wrap="square" lIns="0" rIns="0" tIns="0" bIns="0" anchor="t">
            <a:spAutoFit/>
          </a:bodyPr>
          <a:lstStyle/>
          <a:p>
            <a:pPr algn="l">
              <a:lnSpc>
                <a:spcPct val="110000"/>
              </a:lnSpc>
            </a:pPr>
            <a:r>
              <a:rPr sz="1900" b="0">
                <a:solidFill>
                  <a:srgbClr val="1F2328"/>
                </a:solidFill>
                <a:latin typeface="Bahnschrift"/>
              </a:rPr>
              <a:t>Is the data clean enough to trust?</a:t>
            </a:r>
          </a:p>
        </p:txBody>
      </p:sp>
      <p:sp>
        <p:nvSpPr>
          <p:cNvPr id="18" name="TextBox 17"/>
          <p:cNvSpPr txBox="1"/>
          <p:nvPr/>
        </p:nvSpPr>
        <p:spPr>
          <a:xfrm>
            <a:off x="6766560" y="3063240"/>
            <a:ext cx="548640" cy="731520"/>
          </a:xfrm>
          <a:prstGeom prst="rect">
            <a:avLst/>
          </a:prstGeom>
          <a:noFill/>
        </p:spPr>
        <p:txBody>
          <a:bodyPr wrap="square" lIns="0" rIns="0" tIns="0" bIns="0" anchor="t">
            <a:spAutoFit/>
          </a:bodyPr>
          <a:lstStyle/>
          <a:p>
            <a:pPr algn="l">
              <a:lnSpc>
                <a:spcPct val="100000"/>
              </a:lnSpc>
            </a:pPr>
            <a:r>
              <a:rPr sz="4000" b="0">
                <a:solidFill>
                  <a:srgbClr val="8C2F39"/>
                </a:solidFill>
                <a:latin typeface="Bahnschrift Light"/>
              </a:rPr>
              <a:t>2</a:t>
            </a:r>
          </a:p>
        </p:txBody>
      </p:sp>
      <p:sp>
        <p:nvSpPr>
          <p:cNvPr id="19" name="TextBox 18"/>
          <p:cNvSpPr txBox="1"/>
          <p:nvPr/>
        </p:nvSpPr>
        <p:spPr>
          <a:xfrm>
            <a:off x="7406640" y="3172968"/>
            <a:ext cx="4114800" cy="822960"/>
          </a:xfrm>
          <a:prstGeom prst="rect">
            <a:avLst/>
          </a:prstGeom>
          <a:noFill/>
        </p:spPr>
        <p:txBody>
          <a:bodyPr wrap="square" lIns="0" rIns="0" tIns="0" bIns="0" anchor="t">
            <a:spAutoFit/>
          </a:bodyPr>
          <a:lstStyle/>
          <a:p>
            <a:pPr algn="l">
              <a:lnSpc>
                <a:spcPct val="110000"/>
              </a:lnSpc>
            </a:pPr>
            <a:r>
              <a:rPr sz="1900" b="0">
                <a:solidFill>
                  <a:srgbClr val="1F2328"/>
                </a:solidFill>
                <a:latin typeface="Bahnschrift"/>
              </a:rPr>
              <a:t>Which measurements separate patients from everyone else?</a:t>
            </a:r>
          </a:p>
        </p:txBody>
      </p:sp>
      <p:sp>
        <p:nvSpPr>
          <p:cNvPr id="20" name="TextBox 19"/>
          <p:cNvSpPr txBox="1"/>
          <p:nvPr/>
        </p:nvSpPr>
        <p:spPr>
          <a:xfrm>
            <a:off x="6766560" y="4297680"/>
            <a:ext cx="548640" cy="731520"/>
          </a:xfrm>
          <a:prstGeom prst="rect">
            <a:avLst/>
          </a:prstGeom>
          <a:noFill/>
        </p:spPr>
        <p:txBody>
          <a:bodyPr wrap="square" lIns="0" rIns="0" tIns="0" bIns="0" anchor="t">
            <a:spAutoFit/>
          </a:bodyPr>
          <a:lstStyle/>
          <a:p>
            <a:pPr algn="l">
              <a:lnSpc>
                <a:spcPct val="100000"/>
              </a:lnSpc>
            </a:pPr>
            <a:r>
              <a:rPr sz="4000" b="0">
                <a:solidFill>
                  <a:srgbClr val="8C2F39"/>
                </a:solidFill>
                <a:latin typeface="Bahnschrift Light"/>
              </a:rPr>
              <a:t>3</a:t>
            </a:r>
          </a:p>
        </p:txBody>
      </p:sp>
      <p:sp>
        <p:nvSpPr>
          <p:cNvPr id="21" name="TextBox 20"/>
          <p:cNvSpPr txBox="1"/>
          <p:nvPr/>
        </p:nvSpPr>
        <p:spPr>
          <a:xfrm>
            <a:off x="7406640" y="4407408"/>
            <a:ext cx="4114800" cy="822960"/>
          </a:xfrm>
          <a:prstGeom prst="rect">
            <a:avLst/>
          </a:prstGeom>
          <a:noFill/>
        </p:spPr>
        <p:txBody>
          <a:bodyPr wrap="square" lIns="0" rIns="0" tIns="0" bIns="0" anchor="t">
            <a:spAutoFit/>
          </a:bodyPr>
          <a:lstStyle/>
          <a:p>
            <a:pPr algn="l">
              <a:lnSpc>
                <a:spcPct val="110000"/>
              </a:lnSpc>
            </a:pPr>
            <a:r>
              <a:rPr sz="1900" b="0">
                <a:solidFill>
                  <a:srgbClr val="1F2328"/>
                </a:solidFill>
                <a:latin typeface="Bahnschrift"/>
              </a:rPr>
              <a:t>How well can a model predict the label for someone new?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3 / 7</a:t>
            </a:r>
          </a:p>
        </p:txBody>
      </p:sp>
      <p:sp>
        <p:nvSpPr>
          <p:cNvPr id="4" name="TextBox 3"/>
          <p:cNvSpPr txBox="1"/>
          <p:nvPr/>
        </p:nvSpPr>
        <p:spPr>
          <a:xfrm>
            <a:off x="685800" y="594360"/>
            <a:ext cx="10789920" cy="100584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SemiBold"/>
              </a:rPr>
              <a:t>The extra rows were copied from real patients</a:t>
            </a:r>
          </a:p>
        </p:txBody>
      </p:sp>
      <p:sp>
        <p:nvSpPr>
          <p:cNvPr id="5" name="TextBox 4"/>
          <p:cNvSpPr txBox="1"/>
          <p:nvPr/>
        </p:nvSpPr>
        <p:spPr>
          <a:xfrm>
            <a:off x="685800" y="1737360"/>
            <a:ext cx="3108960" cy="731520"/>
          </a:xfrm>
          <a:prstGeom prst="rect">
            <a:avLst/>
          </a:prstGeom>
          <a:noFill/>
        </p:spPr>
        <p:txBody>
          <a:bodyPr wrap="square" lIns="0" rIns="0" tIns="0" bIns="0" anchor="t">
            <a:spAutoFit/>
          </a:bodyPr>
          <a:lstStyle/>
          <a:p>
            <a:pPr algn="l">
              <a:lnSpc>
                <a:spcPct val="100000"/>
              </a:lnSpc>
            </a:pPr>
            <a:r>
              <a:rPr sz="4000" b="0">
                <a:solidFill>
                  <a:srgbClr val="1F2328"/>
                </a:solidFill>
                <a:latin typeface="Bahnschrift Light"/>
              </a:rPr>
              <a:t>11,323</a:t>
            </a:r>
          </a:p>
        </p:txBody>
      </p:sp>
      <p:sp>
        <p:nvSpPr>
          <p:cNvPr id="6" name="TextBox 5"/>
          <p:cNvSpPr txBox="1"/>
          <p:nvPr/>
        </p:nvSpPr>
        <p:spPr>
          <a:xfrm>
            <a:off x="685800" y="2450592"/>
            <a:ext cx="31089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exact duplicate rows removed</a:t>
            </a:r>
          </a:p>
        </p:txBody>
      </p:sp>
      <p:sp>
        <p:nvSpPr>
          <p:cNvPr id="7" name="TextBox 6"/>
          <p:cNvSpPr txBox="1"/>
          <p:nvPr/>
        </p:nvSpPr>
        <p:spPr>
          <a:xfrm>
            <a:off x="685800" y="3017520"/>
            <a:ext cx="3108960" cy="731520"/>
          </a:xfrm>
          <a:prstGeom prst="rect">
            <a:avLst/>
          </a:prstGeom>
          <a:noFill/>
        </p:spPr>
        <p:txBody>
          <a:bodyPr wrap="square" lIns="0" rIns="0" tIns="0" bIns="0" anchor="t">
            <a:spAutoFit/>
          </a:bodyPr>
          <a:lstStyle/>
          <a:p>
            <a:pPr algn="l">
              <a:lnSpc>
                <a:spcPct val="100000"/>
              </a:lnSpc>
            </a:pPr>
            <a:r>
              <a:rPr sz="4000" b="0">
                <a:solidFill>
                  <a:srgbClr val="1F2328"/>
                </a:solidFill>
                <a:latin typeface="Bahnschrift Light"/>
              </a:rPr>
              <a:t>558</a:t>
            </a:r>
          </a:p>
        </p:txBody>
      </p:sp>
      <p:sp>
        <p:nvSpPr>
          <p:cNvPr id="8" name="TextBox 7"/>
          <p:cNvSpPr txBox="1"/>
          <p:nvPr/>
        </p:nvSpPr>
        <p:spPr>
          <a:xfrm>
            <a:off x="685800" y="3730752"/>
            <a:ext cx="31089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rows identical to the 583-patient UCI release</a:t>
            </a:r>
          </a:p>
        </p:txBody>
      </p:sp>
      <p:sp>
        <p:nvSpPr>
          <p:cNvPr id="9" name="TextBox 8"/>
          <p:cNvSpPr txBox="1"/>
          <p:nvPr/>
        </p:nvSpPr>
        <p:spPr>
          <a:xfrm>
            <a:off x="685800" y="4297680"/>
            <a:ext cx="3108960" cy="731520"/>
          </a:xfrm>
          <a:prstGeom prst="rect">
            <a:avLst/>
          </a:prstGeom>
          <a:noFill/>
        </p:spPr>
        <p:txBody>
          <a:bodyPr wrap="square" lIns="0" rIns="0" tIns="0" bIns="0" anchor="t">
            <a:spAutoFit/>
          </a:bodyPr>
          <a:lstStyle/>
          <a:p>
            <a:pPr algn="l">
              <a:lnSpc>
                <a:spcPct val="100000"/>
              </a:lnSpc>
            </a:pPr>
            <a:r>
              <a:rPr sz="4000" b="0">
                <a:solidFill>
                  <a:srgbClr val="8C2F39"/>
                </a:solidFill>
                <a:latin typeface="Bahnschrift Light"/>
              </a:rPr>
              <a:t>100%</a:t>
            </a:r>
          </a:p>
        </p:txBody>
      </p:sp>
      <p:sp>
        <p:nvSpPr>
          <p:cNvPr id="10" name="TextBox 9"/>
          <p:cNvSpPr txBox="1"/>
          <p:nvPr/>
        </p:nvSpPr>
        <p:spPr>
          <a:xfrm>
            <a:off x="685800" y="5010912"/>
            <a:ext cx="31089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of lab values in added rows come from same-class patients</a:t>
            </a:r>
          </a:p>
        </p:txBody>
      </p:sp>
      <p:pic>
        <p:nvPicPr>
          <p:cNvPr id="11" name="Picture 10" descr="f29_provenance.png"/>
          <p:cNvPicPr>
            <a:picLocks noChangeAspect="1"/>
          </p:cNvPicPr>
          <p:nvPr/>
        </p:nvPicPr>
        <p:blipFill>
          <a:blip r:embed="rId3"/>
          <a:stretch>
            <a:fillRect/>
          </a:stretch>
        </p:blipFill>
        <p:spPr>
          <a:xfrm>
            <a:off x="4206240" y="1783080"/>
            <a:ext cx="7315200" cy="271707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4 / 7</a:t>
            </a:r>
          </a:p>
        </p:txBody>
      </p:sp>
      <p:sp>
        <p:nvSpPr>
          <p:cNvPr id="4" name="TextBox 3"/>
          <p:cNvSpPr txBox="1"/>
          <p:nvPr/>
        </p:nvSpPr>
        <p:spPr>
          <a:xfrm>
            <a:off x="685800" y="594360"/>
            <a:ext cx="10789920" cy="100584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SemiBold"/>
              </a:rPr>
              <a:t>Bilirubin and enzymes rise, albumin falls</a:t>
            </a:r>
          </a:p>
        </p:txBody>
      </p:sp>
      <p:pic>
        <p:nvPicPr>
          <p:cNvPr id="5" name="Picture 4" descr="f12_dotchart.png"/>
          <p:cNvPicPr>
            <a:picLocks noChangeAspect="1"/>
          </p:cNvPicPr>
          <p:nvPr/>
        </p:nvPicPr>
        <p:blipFill>
          <a:blip r:embed="rId3"/>
          <a:stretch>
            <a:fillRect/>
          </a:stretch>
        </p:blipFill>
        <p:spPr>
          <a:xfrm>
            <a:off x="685800" y="1691640"/>
            <a:ext cx="6400800" cy="3038416"/>
          </a:xfrm>
          <a:prstGeom prst="rect">
            <a:avLst/>
          </a:prstGeom>
        </p:spPr>
      </p:pic>
      <p:sp>
        <p:nvSpPr>
          <p:cNvPr id="6" name="Rectangle 5"/>
          <p:cNvSpPr/>
          <p:nvPr/>
        </p:nvSpPr>
        <p:spPr>
          <a:xfrm>
            <a:off x="7680960" y="1783080"/>
            <a:ext cx="384048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965960"/>
            <a:ext cx="3840480" cy="1463040"/>
          </a:xfrm>
          <a:prstGeom prst="rect">
            <a:avLst/>
          </a:prstGeom>
          <a:noFill/>
        </p:spPr>
        <p:txBody>
          <a:bodyPr wrap="square" lIns="0" rIns="0" tIns="0" bIns="0" anchor="t">
            <a:spAutoFit/>
          </a:bodyPr>
          <a:lstStyle/>
          <a:p>
            <a:pPr algn="l">
              <a:lnSpc>
                <a:spcPct val="115000"/>
              </a:lnSpc>
            </a:pPr>
            <a:r>
              <a:rPr sz="1900" b="0">
                <a:solidFill>
                  <a:srgbClr val="1F2328"/>
                </a:solidFill>
                <a:latin typeface="Bahnschrift SemiBold"/>
              </a:rPr>
              <a:t>Three factors</a:t>
            </a:r>
          </a:p>
          <a:p>
            <a:pPr algn="l">
              <a:lnSpc>
                <a:spcPct val="115000"/>
              </a:lnSpc>
            </a:pPr>
            <a:r>
              <a:rPr sz="1500" b="0">
                <a:solidFill>
                  <a:srgbClr val="6B7280"/>
                </a:solidFill>
                <a:latin typeface="Bahnschrift"/>
              </a:rPr>
              <a:t>protein synthesis, cell injury, bilirubin handling</a:t>
            </a:r>
          </a:p>
        </p:txBody>
      </p:sp>
      <p:sp>
        <p:nvSpPr>
          <p:cNvPr id="8" name="Rectangle 7"/>
          <p:cNvSpPr/>
          <p:nvPr/>
        </p:nvSpPr>
        <p:spPr>
          <a:xfrm>
            <a:off x="7680960" y="3246120"/>
            <a:ext cx="384048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3429000"/>
            <a:ext cx="3840480" cy="1463040"/>
          </a:xfrm>
          <a:prstGeom prst="rect">
            <a:avLst/>
          </a:prstGeom>
          <a:noFill/>
        </p:spPr>
        <p:txBody>
          <a:bodyPr wrap="square" lIns="0" rIns="0" tIns="0" bIns="0" anchor="t">
            <a:spAutoFit/>
          </a:bodyPr>
          <a:lstStyle/>
          <a:p>
            <a:pPr algn="l">
              <a:lnSpc>
                <a:spcPct val="115000"/>
              </a:lnSpc>
            </a:pPr>
            <a:r>
              <a:rPr sz="1900" b="0">
                <a:solidFill>
                  <a:srgbClr val="1F2328"/>
                </a:solidFill>
                <a:latin typeface="Bahnschrift SemiBold"/>
              </a:rPr>
              <a:t>Four clusters</a:t>
            </a:r>
          </a:p>
          <a:p>
            <a:pPr algn="l">
              <a:lnSpc>
                <a:spcPct val="115000"/>
              </a:lnSpc>
            </a:pPr>
            <a:r>
              <a:rPr sz="1500" b="0">
                <a:solidFill>
                  <a:srgbClr val="6B7280"/>
                </a:solidFill>
                <a:latin typeface="Bahnschrift"/>
              </a:rPr>
              <a:t>look like stages of damage, but none matches the label</a:t>
            </a:r>
          </a:p>
        </p:txBody>
      </p:sp>
      <p:sp>
        <p:nvSpPr>
          <p:cNvPr id="10" name="Rectangle 9"/>
          <p:cNvSpPr/>
          <p:nvPr/>
        </p:nvSpPr>
        <p:spPr>
          <a:xfrm>
            <a:off x="7680960" y="4709160"/>
            <a:ext cx="384048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4892040"/>
            <a:ext cx="3840480" cy="1097280"/>
          </a:xfrm>
          <a:prstGeom prst="rect">
            <a:avLst/>
          </a:prstGeom>
          <a:noFill/>
        </p:spPr>
        <p:txBody>
          <a:bodyPr wrap="square" lIns="0" rIns="0" tIns="0" bIns="0" anchor="t">
            <a:spAutoFit/>
          </a:bodyPr>
          <a:lstStyle/>
          <a:p>
            <a:pPr algn="l">
              <a:lnSpc>
                <a:spcPct val="115000"/>
              </a:lnSpc>
            </a:pPr>
            <a:r>
              <a:rPr sz="1900" b="0">
                <a:solidFill>
                  <a:srgbClr val="1F2328"/>
                </a:solidFill>
                <a:latin typeface="Bahnschrift SemiBold"/>
              </a:rPr>
              <a:t>About 4 real dimensions</a:t>
            </a:r>
          </a:p>
          <a:p>
            <a:pPr algn="l">
              <a:lnSpc>
                <a:spcPct val="115000"/>
              </a:lnSpc>
            </a:pPr>
            <a:r>
              <a:rPr sz="1500" b="0">
                <a:solidFill>
                  <a:srgbClr val="6B7280"/>
                </a:solidFill>
                <a:latin typeface="Bahnschrift"/>
              </a:rPr>
              <a:t>out of 9 measured columns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5 / 7</a:t>
            </a:r>
          </a:p>
        </p:txBody>
      </p:sp>
      <p:sp>
        <p:nvSpPr>
          <p:cNvPr id="4" name="TextBox 3"/>
          <p:cNvSpPr txBox="1"/>
          <p:nvPr/>
        </p:nvSpPr>
        <p:spPr>
          <a:xfrm>
            <a:off x="685800" y="594360"/>
            <a:ext cx="10789920" cy="100584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SemiBold"/>
              </a:rPr>
              <a:t>99.7% on the file, 0.73 on real patients</a:t>
            </a:r>
          </a:p>
        </p:txBody>
      </p:sp>
      <p:sp>
        <p:nvSpPr>
          <p:cNvPr id="5" name="TextBox 4"/>
          <p:cNvSpPr txBox="1"/>
          <p:nvPr/>
        </p:nvSpPr>
        <p:spPr>
          <a:xfrm>
            <a:off x="685800" y="1783080"/>
            <a:ext cx="457200" cy="548640"/>
          </a:xfrm>
          <a:prstGeom prst="rect">
            <a:avLst/>
          </a:prstGeom>
          <a:noFill/>
        </p:spPr>
        <p:txBody>
          <a:bodyPr wrap="square" lIns="0" rIns="0" tIns="0" bIns="0" anchor="t">
            <a:spAutoFit/>
          </a:bodyPr>
          <a:lstStyle/>
          <a:p>
            <a:pPr algn="l">
              <a:lnSpc>
                <a:spcPct val="100000"/>
              </a:lnSpc>
            </a:pPr>
            <a:r>
              <a:rPr sz="3000" b="0">
                <a:solidFill>
                  <a:srgbClr val="8C2F39"/>
                </a:solidFill>
                <a:latin typeface="Bahnschrift Light"/>
              </a:rPr>
              <a:t>A</a:t>
            </a:r>
          </a:p>
        </p:txBody>
      </p:sp>
      <p:sp>
        <p:nvSpPr>
          <p:cNvPr id="6" name="TextBox 5"/>
          <p:cNvSpPr txBox="1"/>
          <p:nvPr/>
        </p:nvSpPr>
        <p:spPr>
          <a:xfrm>
            <a:off x="1234440" y="1801368"/>
            <a:ext cx="4023360" cy="82296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a:rPr>
              <a:t>Random 80/20 split of the file</a:t>
            </a:r>
          </a:p>
          <a:p>
            <a:pPr algn="l">
              <a:lnSpc>
                <a:spcPct val="110000"/>
              </a:lnSpc>
            </a:pPr>
            <a:r>
              <a:rPr sz="1400" b="0">
                <a:solidFill>
                  <a:srgbClr val="6B7280"/>
                </a:solidFill>
                <a:latin typeface="Bahnschrift"/>
              </a:rPr>
              <a:t>99.7% accuracy</a:t>
            </a:r>
          </a:p>
        </p:txBody>
      </p:sp>
      <p:sp>
        <p:nvSpPr>
          <p:cNvPr id="7" name="TextBox 6"/>
          <p:cNvSpPr txBox="1"/>
          <p:nvPr/>
        </p:nvSpPr>
        <p:spPr>
          <a:xfrm>
            <a:off x="685800" y="2743200"/>
            <a:ext cx="457200" cy="548640"/>
          </a:xfrm>
          <a:prstGeom prst="rect">
            <a:avLst/>
          </a:prstGeom>
          <a:noFill/>
        </p:spPr>
        <p:txBody>
          <a:bodyPr wrap="square" lIns="0" rIns="0" tIns="0" bIns="0" anchor="t">
            <a:spAutoFit/>
          </a:bodyPr>
          <a:lstStyle/>
          <a:p>
            <a:pPr algn="l">
              <a:lnSpc>
                <a:spcPct val="100000"/>
              </a:lnSpc>
            </a:pPr>
            <a:r>
              <a:rPr sz="3000" b="0">
                <a:solidFill>
                  <a:srgbClr val="8C2F39"/>
                </a:solidFill>
                <a:latin typeface="Bahnschrift Light"/>
              </a:rPr>
              <a:t>B</a:t>
            </a:r>
          </a:p>
        </p:txBody>
      </p:sp>
      <p:sp>
        <p:nvSpPr>
          <p:cNvPr id="8" name="TextBox 7"/>
          <p:cNvSpPr txBox="1"/>
          <p:nvPr/>
        </p:nvSpPr>
        <p:spPr>
          <a:xfrm>
            <a:off x="1234440" y="2761488"/>
            <a:ext cx="4023360" cy="82296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a:rPr>
              <a:t>Grouped by source patient</a:t>
            </a:r>
          </a:p>
          <a:p>
            <a:pPr algn="l">
              <a:lnSpc>
                <a:spcPct val="110000"/>
              </a:lnSpc>
            </a:pPr>
            <a:r>
              <a:rPr sz="1400" b="0">
                <a:solidFill>
                  <a:srgbClr val="6B7280"/>
                </a:solidFill>
                <a:latin typeface="Bahnschrift"/>
              </a:rPr>
              <a:t>trees still near 99%</a:t>
            </a:r>
          </a:p>
        </p:txBody>
      </p:sp>
      <p:sp>
        <p:nvSpPr>
          <p:cNvPr id="9" name="TextBox 8"/>
          <p:cNvSpPr txBox="1"/>
          <p:nvPr/>
        </p:nvSpPr>
        <p:spPr>
          <a:xfrm>
            <a:off x="685800" y="3703320"/>
            <a:ext cx="457200" cy="548640"/>
          </a:xfrm>
          <a:prstGeom prst="rect">
            <a:avLst/>
          </a:prstGeom>
          <a:noFill/>
        </p:spPr>
        <p:txBody>
          <a:bodyPr wrap="square" lIns="0" rIns="0" tIns="0" bIns="0" anchor="t">
            <a:spAutoFit/>
          </a:bodyPr>
          <a:lstStyle/>
          <a:p>
            <a:pPr algn="l">
              <a:lnSpc>
                <a:spcPct val="100000"/>
              </a:lnSpc>
            </a:pPr>
            <a:r>
              <a:rPr sz="3000" b="0">
                <a:solidFill>
                  <a:srgbClr val="8C2F39"/>
                </a:solidFill>
                <a:latin typeface="Bahnschrift Light"/>
              </a:rPr>
              <a:t>C</a:t>
            </a:r>
          </a:p>
        </p:txBody>
      </p:sp>
      <p:sp>
        <p:nvSpPr>
          <p:cNvPr id="10" name="TextBox 9"/>
          <p:cNvSpPr txBox="1"/>
          <p:nvPr/>
        </p:nvSpPr>
        <p:spPr>
          <a:xfrm>
            <a:off x="1234440" y="3721608"/>
            <a:ext cx="4023360" cy="822960"/>
          </a:xfrm>
          <a:prstGeom prst="rect">
            <a:avLst/>
          </a:prstGeom>
          <a:noFill/>
        </p:spPr>
        <p:txBody>
          <a:bodyPr wrap="square" lIns="0" rIns="0" tIns="0" bIns="0" anchor="t">
            <a:spAutoFit/>
          </a:bodyPr>
          <a:lstStyle/>
          <a:p>
            <a:pPr algn="l">
              <a:lnSpc>
                <a:spcPct val="110000"/>
              </a:lnSpc>
            </a:pPr>
            <a:r>
              <a:rPr sz="1600" b="0">
                <a:solidFill>
                  <a:srgbClr val="1F2328"/>
                </a:solidFill>
                <a:latin typeface="Bahnschrift"/>
              </a:rPr>
              <a:t>Only the 570 real patients</a:t>
            </a:r>
          </a:p>
          <a:p>
            <a:pPr algn="l">
              <a:lnSpc>
                <a:spcPct val="110000"/>
              </a:lnSpc>
            </a:pPr>
            <a:r>
              <a:rPr sz="1400" b="0">
                <a:solidFill>
                  <a:srgbClr val="6B7280"/>
                </a:solidFill>
                <a:latin typeface="Bahnschrift"/>
              </a:rPr>
              <a:t>best AUC 0.73</a:t>
            </a:r>
          </a:p>
        </p:txBody>
      </p:sp>
      <p:sp>
        <p:nvSpPr>
          <p:cNvPr id="11" name="Rectangle 10"/>
          <p:cNvSpPr/>
          <p:nvPr/>
        </p:nvSpPr>
        <p:spPr>
          <a:xfrm>
            <a:off x="685800" y="4754880"/>
            <a:ext cx="448056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892040"/>
            <a:ext cx="4480560" cy="822960"/>
          </a:xfrm>
          <a:prstGeom prst="rect">
            <a:avLst/>
          </a:prstGeom>
          <a:noFill/>
        </p:spPr>
        <p:txBody>
          <a:bodyPr wrap="square" lIns="0" rIns="0" tIns="0" bIns="0" anchor="t">
            <a:spAutoFit/>
          </a:bodyPr>
          <a:lstStyle/>
          <a:p>
            <a:pPr algn="l">
              <a:lnSpc>
                <a:spcPct val="110000"/>
              </a:lnSpc>
            </a:pPr>
            <a:r>
              <a:rPr sz="1500" b="0">
                <a:solidFill>
                  <a:srgbClr val="1F2328"/>
                </a:solidFill>
                <a:latin typeface="Bahnschrift"/>
              </a:rPr>
              <a:t>A lookup rule with no learning scores AUC </a:t>
            </a:r>
            <a:r>
              <a:rPr sz="1500" b="0">
                <a:solidFill>
                  <a:srgbClr val="8C2F39"/>
                </a:solidFill>
                <a:latin typeface="Bahnschrift SemiBold"/>
              </a:rPr>
              <a:t>0.94</a:t>
            </a:r>
            <a:r>
              <a:rPr sz="1500" b="0">
                <a:solidFill>
                  <a:srgbClr val="1F2328"/>
                </a:solidFill>
                <a:latin typeface="Bahnschrift"/>
              </a:rPr>
              <a:t> on split A</a:t>
            </a:r>
          </a:p>
        </p:txBody>
      </p:sp>
      <p:pic>
        <p:nvPicPr>
          <p:cNvPr id="13" name="Picture 12" descr="f27_protocol_gap.png"/>
          <p:cNvPicPr>
            <a:picLocks noChangeAspect="1"/>
          </p:cNvPicPr>
          <p:nvPr/>
        </p:nvPicPr>
        <p:blipFill>
          <a:blip r:embed="rId3"/>
          <a:stretch>
            <a:fillRect/>
          </a:stretch>
        </p:blipFill>
        <p:spPr>
          <a:xfrm>
            <a:off x="5486400" y="1691640"/>
            <a:ext cx="6035040" cy="282570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6 / 7</a:t>
            </a:r>
          </a:p>
        </p:txBody>
      </p:sp>
      <p:sp>
        <p:nvSpPr>
          <p:cNvPr id="4" name="TextBox 3"/>
          <p:cNvSpPr txBox="1"/>
          <p:nvPr/>
        </p:nvSpPr>
        <p:spPr>
          <a:xfrm>
            <a:off x="685800" y="594360"/>
            <a:ext cx="10789920" cy="100584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SemiBold"/>
              </a:rPr>
              <a:t>Logistic regression: as good, easier to explain</a:t>
            </a:r>
          </a:p>
        </p:txBody>
      </p:sp>
      <p:sp>
        <p:nvSpPr>
          <p:cNvPr id="5" name="TextBox 4"/>
          <p:cNvSpPr txBox="1"/>
          <p:nvPr/>
        </p:nvSpPr>
        <p:spPr>
          <a:xfrm>
            <a:off x="685800" y="1783080"/>
            <a:ext cx="2194560" cy="73152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Light"/>
              </a:rPr>
              <a:t>0.733</a:t>
            </a:r>
          </a:p>
        </p:txBody>
      </p:sp>
      <p:sp>
        <p:nvSpPr>
          <p:cNvPr id="6" name="TextBox 5"/>
          <p:cNvSpPr txBox="1"/>
          <p:nvPr/>
        </p:nvSpPr>
        <p:spPr>
          <a:xfrm>
            <a:off x="685800" y="2496312"/>
            <a:ext cx="21945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SVM (RBF), cross-validated AUC</a:t>
            </a:r>
          </a:p>
        </p:txBody>
      </p:sp>
      <p:sp>
        <p:nvSpPr>
          <p:cNvPr id="7" name="TextBox 6"/>
          <p:cNvSpPr txBox="1"/>
          <p:nvPr/>
        </p:nvSpPr>
        <p:spPr>
          <a:xfrm>
            <a:off x="3063240" y="1783080"/>
            <a:ext cx="2194560" cy="731520"/>
          </a:xfrm>
          <a:prstGeom prst="rect">
            <a:avLst/>
          </a:prstGeom>
          <a:noFill/>
        </p:spPr>
        <p:txBody>
          <a:bodyPr wrap="square" lIns="0" rIns="0" tIns="0" bIns="0" anchor="t">
            <a:spAutoFit/>
          </a:bodyPr>
          <a:lstStyle/>
          <a:p>
            <a:pPr algn="l">
              <a:lnSpc>
                <a:spcPct val="100000"/>
              </a:lnSpc>
            </a:pPr>
            <a:r>
              <a:rPr sz="3400" b="0">
                <a:solidFill>
                  <a:srgbClr val="8C2F39"/>
                </a:solidFill>
                <a:latin typeface="Bahnschrift Light"/>
              </a:rPr>
              <a:t>0.727</a:t>
            </a:r>
          </a:p>
        </p:txBody>
      </p:sp>
      <p:sp>
        <p:nvSpPr>
          <p:cNvPr id="8" name="TextBox 7"/>
          <p:cNvSpPr txBox="1"/>
          <p:nvPr/>
        </p:nvSpPr>
        <p:spPr>
          <a:xfrm>
            <a:off x="3063240" y="2496312"/>
            <a:ext cx="21945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logistic regression</a:t>
            </a:r>
          </a:p>
        </p:txBody>
      </p:sp>
      <p:sp>
        <p:nvSpPr>
          <p:cNvPr id="9" name="TextBox 8"/>
          <p:cNvSpPr txBox="1"/>
          <p:nvPr/>
        </p:nvSpPr>
        <p:spPr>
          <a:xfrm>
            <a:off x="685800" y="3246120"/>
            <a:ext cx="2194560" cy="73152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Light"/>
              </a:rPr>
              <a:t>p = 1.00</a:t>
            </a:r>
          </a:p>
        </p:txBody>
      </p:sp>
      <p:sp>
        <p:nvSpPr>
          <p:cNvPr id="10" name="TextBox 9"/>
          <p:cNvSpPr txBox="1"/>
          <p:nvPr/>
        </p:nvSpPr>
        <p:spPr>
          <a:xfrm>
            <a:off x="685800" y="3959352"/>
            <a:ext cx="21945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McNemar test, no difference</a:t>
            </a:r>
          </a:p>
        </p:txBody>
      </p:sp>
      <p:sp>
        <p:nvSpPr>
          <p:cNvPr id="11" name="TextBox 10"/>
          <p:cNvSpPr txBox="1"/>
          <p:nvPr/>
        </p:nvSpPr>
        <p:spPr>
          <a:xfrm>
            <a:off x="3063240" y="3246120"/>
            <a:ext cx="2194560" cy="731520"/>
          </a:xfrm>
          <a:prstGeom prst="rect">
            <a:avLst/>
          </a:prstGeom>
          <a:noFill/>
        </p:spPr>
        <p:txBody>
          <a:bodyPr wrap="square" lIns="0" rIns="0" tIns="0" bIns="0" anchor="t">
            <a:spAutoFit/>
          </a:bodyPr>
          <a:lstStyle/>
          <a:p>
            <a:pPr algn="l">
              <a:lnSpc>
                <a:spcPct val="100000"/>
              </a:lnSpc>
            </a:pPr>
            <a:r>
              <a:rPr sz="3400" b="0">
                <a:solidFill>
                  <a:srgbClr val="1F2328"/>
                </a:solidFill>
                <a:latin typeface="Bahnschrift Light"/>
              </a:rPr>
              <a:t>4 of 33</a:t>
            </a:r>
          </a:p>
        </p:txBody>
      </p:sp>
      <p:sp>
        <p:nvSpPr>
          <p:cNvPr id="12" name="TextBox 11"/>
          <p:cNvSpPr txBox="1"/>
          <p:nvPr/>
        </p:nvSpPr>
        <p:spPr>
          <a:xfrm>
            <a:off x="3063240" y="3959352"/>
            <a:ext cx="2194560" cy="548640"/>
          </a:xfrm>
          <a:prstGeom prst="rect">
            <a:avLst/>
          </a:prstGeom>
          <a:noFill/>
        </p:spPr>
        <p:txBody>
          <a:bodyPr wrap="square" lIns="0" rIns="0" tIns="0" bIns="0" anchor="t">
            <a:spAutoFit/>
          </a:bodyPr>
          <a:lstStyle/>
          <a:p>
            <a:pPr algn="l">
              <a:lnSpc>
                <a:spcPct val="105000"/>
              </a:lnSpc>
            </a:pPr>
            <a:r>
              <a:rPr sz="1300" b="0">
                <a:solidFill>
                  <a:srgbClr val="6B7280"/>
                </a:solidFill>
                <a:latin typeface="Bahnschrift"/>
              </a:rPr>
              <a:t>healthy people cleared by random forest</a:t>
            </a:r>
          </a:p>
        </p:txBody>
      </p:sp>
      <p:sp>
        <p:nvSpPr>
          <p:cNvPr id="13" name="TextBox 12"/>
          <p:cNvSpPr txBox="1"/>
          <p:nvPr/>
        </p:nvSpPr>
        <p:spPr>
          <a:xfrm>
            <a:off x="685800" y="4800600"/>
            <a:ext cx="4572000" cy="914400"/>
          </a:xfrm>
          <a:prstGeom prst="rect">
            <a:avLst/>
          </a:prstGeom>
          <a:noFill/>
        </p:spPr>
        <p:txBody>
          <a:bodyPr wrap="square" lIns="0" rIns="0" tIns="0" bIns="0" anchor="t">
            <a:spAutoFit/>
          </a:bodyPr>
          <a:lstStyle/>
          <a:p>
            <a:pPr algn="l">
              <a:lnSpc>
                <a:spcPct val="115000"/>
              </a:lnSpc>
            </a:pPr>
            <a:r>
              <a:rPr sz="1500" b="0">
                <a:solidFill>
                  <a:srgbClr val="6B7280"/>
                </a:solidFill>
                <a:latin typeface="Bahnschrift"/>
              </a:rPr>
              <a:t>Simple models win on 456 training patients; the forest memorised the generator.</a:t>
            </a:r>
          </a:p>
        </p:txBody>
      </p:sp>
      <p:pic>
        <p:nvPicPr>
          <p:cNvPr id="14" name="Picture 13" descr="f28_importance.png"/>
          <p:cNvPicPr>
            <a:picLocks noChangeAspect="1"/>
          </p:cNvPicPr>
          <p:nvPr/>
        </p:nvPicPr>
        <p:blipFill>
          <a:blip r:embed="rId3"/>
          <a:stretch>
            <a:fillRect/>
          </a:stretch>
        </p:blipFill>
        <p:spPr>
          <a:xfrm>
            <a:off x="5623560" y="1828800"/>
            <a:ext cx="5943600" cy="21865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685800" y="6355080"/>
            <a:ext cx="5486400" cy="274320"/>
          </a:xfrm>
          <a:prstGeom prst="rect">
            <a:avLst/>
          </a:prstGeom>
          <a:noFill/>
        </p:spPr>
        <p:txBody>
          <a:bodyPr wrap="square" lIns="0" rIns="0" tIns="0" bIns="0" anchor="t">
            <a:spAutoFit/>
          </a:bodyPr>
          <a:lstStyle/>
          <a:p>
            <a:pPr algn="l">
              <a:lnSpc>
                <a:spcPct val="110000"/>
              </a:lnSpc>
            </a:pPr>
            <a:r>
              <a:rPr sz="1000" b="0">
                <a:solidFill>
                  <a:srgbClr val="6B7280"/>
                </a:solidFill>
                <a:latin typeface="Bahnschrift"/>
              </a:rPr>
              <a:t>BCSE331L  Exploratory Data Analysis</a:t>
            </a:r>
          </a:p>
        </p:txBody>
      </p:sp>
      <p:sp>
        <p:nvSpPr>
          <p:cNvPr id="3" name="TextBox 2"/>
          <p:cNvSpPr txBox="1"/>
          <p:nvPr/>
        </p:nvSpPr>
        <p:spPr>
          <a:xfrm>
            <a:off x="10591495" y="6355080"/>
            <a:ext cx="914400" cy="274320"/>
          </a:xfrm>
          <a:prstGeom prst="rect">
            <a:avLst/>
          </a:prstGeom>
          <a:noFill/>
        </p:spPr>
        <p:txBody>
          <a:bodyPr wrap="square" lIns="0" rIns="0" tIns="0" bIns="0" anchor="t">
            <a:spAutoFit/>
          </a:bodyPr>
          <a:lstStyle/>
          <a:p>
            <a:pPr algn="r">
              <a:lnSpc>
                <a:spcPct val="110000"/>
              </a:lnSpc>
            </a:pPr>
            <a:r>
              <a:rPr sz="1000" b="0">
                <a:solidFill>
                  <a:srgbClr val="6B7280"/>
                </a:solidFill>
                <a:latin typeface="Bahnschrift"/>
              </a:rPr>
              <a:t>7 / 7</a:t>
            </a:r>
          </a:p>
        </p:txBody>
      </p:sp>
      <p:sp>
        <p:nvSpPr>
          <p:cNvPr id="4" name="TextBox 3"/>
          <p:cNvSpPr txBox="1"/>
          <p:nvPr/>
        </p:nvSpPr>
        <p:spPr>
          <a:xfrm>
            <a:off x="685800" y="1463040"/>
            <a:ext cx="8686800" cy="2194560"/>
          </a:xfrm>
          <a:prstGeom prst="rect">
            <a:avLst/>
          </a:prstGeom>
          <a:noFill/>
        </p:spPr>
        <p:txBody>
          <a:bodyPr wrap="square" lIns="0" rIns="0" tIns="0" bIns="0" anchor="t">
            <a:spAutoFit/>
          </a:bodyPr>
          <a:lstStyle/>
          <a:p>
            <a:pPr algn="l">
              <a:lnSpc>
                <a:spcPct val="100000"/>
              </a:lnSpc>
            </a:pPr>
            <a:r>
              <a:rPr sz="4400" b="0">
                <a:solidFill>
                  <a:srgbClr val="1F2328"/>
                </a:solidFill>
                <a:latin typeface="Bahnschrift SemiBold"/>
              </a:rPr>
              <a:t>Check where the data came from</a:t>
            </a:r>
          </a:p>
          <a:p>
            <a:pPr algn="l">
              <a:lnSpc>
                <a:spcPct val="100000"/>
              </a:lnSpc>
            </a:pPr>
            <a:r>
              <a:rPr sz="4400" b="0">
                <a:solidFill>
                  <a:srgbClr val="8C2F39"/>
                </a:solidFill>
                <a:latin typeface="Bahnschrift SemiBold"/>
              </a:rPr>
              <a:t>before trusting the score.</a:t>
            </a:r>
          </a:p>
        </p:txBody>
      </p:sp>
      <p:sp>
        <p:nvSpPr>
          <p:cNvPr id="5" name="Rectangle 4"/>
          <p:cNvSpPr/>
          <p:nvPr/>
        </p:nvSpPr>
        <p:spPr>
          <a:xfrm>
            <a:off x="685800" y="3429000"/>
            <a:ext cx="10789920" cy="9525"/>
          </a:xfrm>
          <a:prstGeom prst="rect">
            <a:avLst/>
          </a:prstGeom>
          <a:solidFill>
            <a:srgbClr val="D9D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703320"/>
            <a:ext cx="3383280" cy="1280160"/>
          </a:xfrm>
          <a:prstGeom prst="rect">
            <a:avLst/>
          </a:prstGeom>
          <a:noFill/>
        </p:spPr>
        <p:txBody>
          <a:bodyPr wrap="square" lIns="0" rIns="0" tIns="0" bIns="0" anchor="t">
            <a:spAutoFit/>
          </a:bodyPr>
          <a:lstStyle/>
          <a:p>
            <a:pPr algn="l">
              <a:lnSpc>
                <a:spcPct val="115000"/>
              </a:lnSpc>
            </a:pPr>
            <a:r>
              <a:rPr sz="1800" b="0">
                <a:solidFill>
                  <a:srgbClr val="1F2328"/>
                </a:solidFill>
                <a:latin typeface="Bahnschrift SemiBold"/>
              </a:rPr>
              <a:t>Cleaning</a:t>
            </a:r>
          </a:p>
          <a:p>
            <a:pPr algn="l">
              <a:lnSpc>
                <a:spcPct val="115000"/>
              </a:lnSpc>
            </a:pPr>
            <a:r>
              <a:rPr sz="1500" b="0">
                <a:solidFill>
                  <a:srgbClr val="6B7280"/>
                </a:solidFill>
                <a:latin typeface="Bahnschrift"/>
              </a:rPr>
              <a:t>found 36.9% duplicates and a class-conditional generator</a:t>
            </a:r>
          </a:p>
        </p:txBody>
      </p:sp>
      <p:sp>
        <p:nvSpPr>
          <p:cNvPr id="7" name="TextBox 6"/>
          <p:cNvSpPr txBox="1"/>
          <p:nvPr/>
        </p:nvSpPr>
        <p:spPr>
          <a:xfrm>
            <a:off x="4343400" y="3703320"/>
            <a:ext cx="3383280" cy="1280160"/>
          </a:xfrm>
          <a:prstGeom prst="rect">
            <a:avLst/>
          </a:prstGeom>
          <a:noFill/>
        </p:spPr>
        <p:txBody>
          <a:bodyPr wrap="square" lIns="0" rIns="0" tIns="0" bIns="0" anchor="t">
            <a:spAutoFit/>
          </a:bodyPr>
          <a:lstStyle/>
          <a:p>
            <a:pPr algn="l">
              <a:lnSpc>
                <a:spcPct val="115000"/>
              </a:lnSpc>
            </a:pPr>
            <a:r>
              <a:rPr sz="1800" b="0">
                <a:solidFill>
                  <a:srgbClr val="1F2328"/>
                </a:solidFill>
                <a:latin typeface="Bahnschrift SemiBold"/>
              </a:rPr>
              <a:t>Exploration</a:t>
            </a:r>
          </a:p>
          <a:p>
            <a:pPr algn="l">
              <a:lnSpc>
                <a:spcPct val="115000"/>
              </a:lnSpc>
            </a:pPr>
            <a:r>
              <a:rPr sz="1500" b="0">
                <a:solidFill>
                  <a:srgbClr val="6B7280"/>
                </a:solidFill>
                <a:latin typeface="Bahnschrift"/>
              </a:rPr>
              <a:t>bilirubin, enzymes and albumin carry the signal</a:t>
            </a:r>
          </a:p>
        </p:txBody>
      </p:sp>
      <p:sp>
        <p:nvSpPr>
          <p:cNvPr id="8" name="TextBox 7"/>
          <p:cNvSpPr txBox="1"/>
          <p:nvPr/>
        </p:nvSpPr>
        <p:spPr>
          <a:xfrm>
            <a:off x="8001000" y="3703320"/>
            <a:ext cx="3383280" cy="1280160"/>
          </a:xfrm>
          <a:prstGeom prst="rect">
            <a:avLst/>
          </a:prstGeom>
          <a:noFill/>
        </p:spPr>
        <p:txBody>
          <a:bodyPr wrap="square" lIns="0" rIns="0" tIns="0" bIns="0" anchor="t">
            <a:spAutoFit/>
          </a:bodyPr>
          <a:lstStyle/>
          <a:p>
            <a:pPr algn="l">
              <a:lnSpc>
                <a:spcPct val="115000"/>
              </a:lnSpc>
            </a:pPr>
            <a:r>
              <a:rPr sz="1800" b="0">
                <a:solidFill>
                  <a:srgbClr val="1F2328"/>
                </a:solidFill>
                <a:latin typeface="Bahnschrift SemiBold"/>
              </a:rPr>
              <a:t>Evaluation</a:t>
            </a:r>
          </a:p>
          <a:p>
            <a:pPr algn="l">
              <a:lnSpc>
                <a:spcPct val="115000"/>
              </a:lnSpc>
            </a:pPr>
            <a:r>
              <a:rPr sz="1500" b="0">
                <a:solidFill>
                  <a:srgbClr val="6B7280"/>
                </a:solidFill>
                <a:latin typeface="Bahnschrift"/>
              </a:rPr>
              <a:t>honest AUC about 0.73; logistic regression recommended</a:t>
            </a:r>
          </a:p>
        </p:txBody>
      </p:sp>
      <p:sp>
        <p:nvSpPr>
          <p:cNvPr id="9" name="TextBox 8"/>
          <p:cNvSpPr txBox="1"/>
          <p:nvPr/>
        </p:nvSpPr>
        <p:spPr>
          <a:xfrm>
            <a:off x="685800" y="5394960"/>
            <a:ext cx="7315200" cy="365760"/>
          </a:xfrm>
          <a:prstGeom prst="rect">
            <a:avLst/>
          </a:prstGeom>
          <a:noFill/>
        </p:spPr>
        <p:txBody>
          <a:bodyPr wrap="square" lIns="0" rIns="0" tIns="0" bIns="0" anchor="t">
            <a:spAutoFit/>
          </a:bodyPr>
          <a:lstStyle/>
          <a:p>
            <a:pPr algn="l">
              <a:lnSpc>
                <a:spcPct val="110000"/>
              </a:lnSpc>
            </a:pPr>
            <a:r>
              <a:rPr sz="1600" b="0">
                <a:solidFill>
                  <a:srgbClr val="6B7280"/>
                </a:solidFill>
                <a:latin typeface="Bahnschrif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